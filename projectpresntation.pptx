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D6A824-F492-430A-9B9D-724B9137E0A2}" v="7" dt="2026-10-31T14:29:45.85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2"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ya das" userId="3eb983e4881ad8d8" providerId="LiveId" clId="{AB099F2F-30C2-45F7-8B3F-82BFD91B764D}"/>
    <pc:docChg chg="custSel modSld">
      <pc:chgData name="ananya das" userId="3eb983e4881ad8d8" providerId="LiveId" clId="{AB099F2F-30C2-45F7-8B3F-82BFD91B764D}" dt="2026-10-31T14:34:00.553" v="85" actId="13926"/>
      <pc:docMkLst>
        <pc:docMk/>
      </pc:docMkLst>
      <pc:sldChg chg="addSp delSp modSp mod">
        <pc:chgData name="ananya das" userId="3eb983e4881ad8d8" providerId="LiveId" clId="{AB099F2F-30C2-45F7-8B3F-82BFD91B764D}" dt="2026-10-31T14:08:08.434" v="32" actId="1076"/>
        <pc:sldMkLst>
          <pc:docMk/>
          <pc:sldMk cId="0" sldId="262"/>
        </pc:sldMkLst>
        <pc:picChg chg="del">
          <ac:chgData name="ananya das" userId="3eb983e4881ad8d8" providerId="LiveId" clId="{AB099F2F-30C2-45F7-8B3F-82BFD91B764D}" dt="2026-10-31T14:08:05.702" v="31" actId="478"/>
          <ac:picMkLst>
            <pc:docMk/>
            <pc:sldMk cId="0" sldId="262"/>
            <ac:picMk id="3" creationId="{81932CE2-F219-0CA8-0102-55B8C682B8A2}"/>
          </ac:picMkLst>
        </pc:picChg>
        <pc:picChg chg="add mod">
          <ac:chgData name="ananya das" userId="3eb983e4881ad8d8" providerId="LiveId" clId="{AB099F2F-30C2-45F7-8B3F-82BFD91B764D}" dt="2026-10-31T14:08:08.434" v="32" actId="1076"/>
          <ac:picMkLst>
            <pc:docMk/>
            <pc:sldMk cId="0" sldId="262"/>
            <ac:picMk id="5" creationId="{E4DF7991-A704-E5F7-F698-28F8D9F166EF}"/>
          </ac:picMkLst>
        </pc:picChg>
      </pc:sldChg>
      <pc:sldChg chg="addSp delSp modSp mod">
        <pc:chgData name="ananya das" userId="3eb983e4881ad8d8" providerId="LiveId" clId="{AB099F2F-30C2-45F7-8B3F-82BFD91B764D}" dt="2026-10-31T14:27:22.761" v="83" actId="1076"/>
        <pc:sldMkLst>
          <pc:docMk/>
          <pc:sldMk cId="2115484872" sldId="277"/>
        </pc:sldMkLst>
        <pc:spChg chg="mod">
          <ac:chgData name="ananya das" userId="3eb983e4881ad8d8" providerId="LiveId" clId="{AB099F2F-30C2-45F7-8B3F-82BFD91B764D}" dt="2026-10-31T14:21:24.438" v="72"/>
          <ac:spMkLst>
            <pc:docMk/>
            <pc:sldMk cId="2115484872" sldId="277"/>
            <ac:spMk id="5" creationId="{1BD576A0-BF64-32B6-1E59-49AA2C59C5CE}"/>
          </ac:spMkLst>
        </pc:spChg>
        <pc:picChg chg="add mod">
          <ac:chgData name="ananya das" userId="3eb983e4881ad8d8" providerId="LiveId" clId="{AB099F2F-30C2-45F7-8B3F-82BFD91B764D}" dt="2026-10-31T14:27:22.761" v="83" actId="1076"/>
          <ac:picMkLst>
            <pc:docMk/>
            <pc:sldMk cId="2115484872" sldId="277"/>
            <ac:picMk id="3" creationId="{B3B9DB9C-E851-2DB4-3FB7-B7988D80B4B8}"/>
          </ac:picMkLst>
        </pc:picChg>
        <pc:picChg chg="add mod">
          <ac:chgData name="ananya das" userId="3eb983e4881ad8d8" providerId="LiveId" clId="{AB099F2F-30C2-45F7-8B3F-82BFD91B764D}" dt="2026-10-31T14:27:12.611" v="79" actId="14100"/>
          <ac:picMkLst>
            <pc:docMk/>
            <pc:sldMk cId="2115484872" sldId="277"/>
            <ac:picMk id="6" creationId="{EA9CD9C9-A045-C7A6-DB7E-6671A93A79CA}"/>
          </ac:picMkLst>
        </pc:picChg>
        <pc:picChg chg="del">
          <ac:chgData name="ananya das" userId="3eb983e4881ad8d8" providerId="LiveId" clId="{AB099F2F-30C2-45F7-8B3F-82BFD91B764D}" dt="2026-10-31T14:27:07.666" v="77" actId="478"/>
          <ac:picMkLst>
            <pc:docMk/>
            <pc:sldMk cId="2115484872" sldId="277"/>
            <ac:picMk id="12" creationId="{3E29AF1D-88C4-87E5-74DF-4E97121E06CE}"/>
          </ac:picMkLst>
        </pc:picChg>
        <pc:picChg chg="del">
          <ac:chgData name="ananya das" userId="3eb983e4881ad8d8" providerId="LiveId" clId="{AB099F2F-30C2-45F7-8B3F-82BFD91B764D}" dt="2026-10-31T14:27:20.537" v="82" actId="478"/>
          <ac:picMkLst>
            <pc:docMk/>
            <pc:sldMk cId="2115484872" sldId="277"/>
            <ac:picMk id="13" creationId="{C81444F5-0692-DD67-1759-70821E53B029}"/>
          </ac:picMkLst>
        </pc:picChg>
      </pc:sldChg>
      <pc:sldChg chg="addSp delSp modSp mod">
        <pc:chgData name="ananya das" userId="3eb983e4881ad8d8" providerId="LiveId" clId="{AB099F2F-30C2-45F7-8B3F-82BFD91B764D}" dt="2026-10-31T14:11:49.564" v="63" actId="1076"/>
        <pc:sldMkLst>
          <pc:docMk/>
          <pc:sldMk cId="2772501912" sldId="279"/>
        </pc:sldMkLst>
        <pc:spChg chg="mod">
          <ac:chgData name="ananya das" userId="3eb983e4881ad8d8" providerId="LiveId" clId="{AB099F2F-30C2-45F7-8B3F-82BFD91B764D}" dt="2026-10-31T14:11:11.958" v="56" actId="113"/>
          <ac:spMkLst>
            <pc:docMk/>
            <pc:sldMk cId="2772501912" sldId="279"/>
            <ac:spMk id="2" creationId="{B64CF172-D2AF-03D8-F919-AA7827A0D969}"/>
          </ac:spMkLst>
        </pc:spChg>
        <pc:spChg chg="add del mod">
          <ac:chgData name="ananya das" userId="3eb983e4881ad8d8" providerId="LiveId" clId="{AB099F2F-30C2-45F7-8B3F-82BFD91B764D}" dt="2026-10-31T14:11:04.637" v="55"/>
          <ac:spMkLst>
            <pc:docMk/>
            <pc:sldMk cId="2772501912" sldId="279"/>
            <ac:spMk id="3" creationId="{92338E19-CB8C-C958-450C-90596E326B76}"/>
          </ac:spMkLst>
        </pc:spChg>
        <pc:picChg chg="del">
          <ac:chgData name="ananya das" userId="3eb983e4881ad8d8" providerId="LiveId" clId="{AB099F2F-30C2-45F7-8B3F-82BFD91B764D}" dt="2026-10-31T14:11:36.089" v="58" actId="21"/>
          <ac:picMkLst>
            <pc:docMk/>
            <pc:sldMk cId="2772501912" sldId="279"/>
            <ac:picMk id="4" creationId="{C597681A-DF93-B190-DD21-CBAEDA4E3CBF}"/>
          </ac:picMkLst>
        </pc:picChg>
        <pc:picChg chg="add mod">
          <ac:chgData name="ananya das" userId="3eb983e4881ad8d8" providerId="LiveId" clId="{AB099F2F-30C2-45F7-8B3F-82BFD91B764D}" dt="2026-10-31T14:11:49.564" v="63" actId="1076"/>
          <ac:picMkLst>
            <pc:docMk/>
            <pc:sldMk cId="2772501912" sldId="279"/>
            <ac:picMk id="6" creationId="{06E1645F-B469-0400-11E0-3EFA4C52C89F}"/>
          </ac:picMkLst>
        </pc:picChg>
      </pc:sldChg>
      <pc:sldChg chg="modSp">
        <pc:chgData name="ananya das" userId="3eb983e4881ad8d8" providerId="LiveId" clId="{AB099F2F-30C2-45F7-8B3F-82BFD91B764D}" dt="2026-10-26T14:20:23.988" v="0"/>
        <pc:sldMkLst>
          <pc:docMk/>
          <pc:sldMk cId="2136706720" sldId="280"/>
        </pc:sldMkLst>
        <pc:spChg chg="mod">
          <ac:chgData name="ananya das" userId="3eb983e4881ad8d8" providerId="LiveId" clId="{AB099F2F-30C2-45F7-8B3F-82BFD91B764D}" dt="2026-10-26T14:20:23.988" v="0"/>
          <ac:spMkLst>
            <pc:docMk/>
            <pc:sldMk cId="2136706720" sldId="280"/>
            <ac:spMk id="279" creationId="{EAFA16CB-0A72-5AC5-69A0-ABF4A752B43F}"/>
          </ac:spMkLst>
        </pc:spChg>
      </pc:sldChg>
      <pc:sldChg chg="modSp">
        <pc:chgData name="ananya das" userId="3eb983e4881ad8d8" providerId="LiveId" clId="{AB099F2F-30C2-45F7-8B3F-82BFD91B764D}" dt="2026-10-31T14:26:24.681" v="74"/>
        <pc:sldMkLst>
          <pc:docMk/>
          <pc:sldMk cId="328526394" sldId="281"/>
        </pc:sldMkLst>
        <pc:spChg chg="mod">
          <ac:chgData name="ananya das" userId="3eb983e4881ad8d8" providerId="LiveId" clId="{AB099F2F-30C2-45F7-8B3F-82BFD91B764D}" dt="2026-10-31T14:26:24.681" v="74"/>
          <ac:spMkLst>
            <pc:docMk/>
            <pc:sldMk cId="328526394" sldId="281"/>
            <ac:spMk id="2" creationId="{9BB86949-7ED1-C43B-B1E3-5122BB67A596}"/>
          </ac:spMkLst>
        </pc:spChg>
      </pc:sldChg>
      <pc:sldChg chg="modSp mod">
        <pc:chgData name="ananya das" userId="3eb983e4881ad8d8" providerId="LiveId" clId="{AB099F2F-30C2-45F7-8B3F-82BFD91B764D}" dt="2026-10-31T14:34:00.553" v="85" actId="13926"/>
        <pc:sldMkLst>
          <pc:docMk/>
          <pc:sldMk cId="2605851928" sldId="287"/>
        </pc:sldMkLst>
        <pc:spChg chg="mod">
          <ac:chgData name="ananya das" userId="3eb983e4881ad8d8" providerId="LiveId" clId="{AB099F2F-30C2-45F7-8B3F-82BFD91B764D}" dt="2026-10-31T14:34:00.553" v="85" actId="13926"/>
          <ac:spMkLst>
            <pc:docMk/>
            <pc:sldMk cId="2605851928" sldId="287"/>
            <ac:spMk id="279" creationId="{3711AF54-94A6-B837-31EF-9A8C4ECB9AF6}"/>
          </ac:spMkLst>
        </pc:spChg>
      </pc:sldChg>
      <pc:sldChg chg="addSp delSp modSp mod">
        <pc:chgData name="ananya das" userId="3eb983e4881ad8d8" providerId="LiveId" clId="{AB099F2F-30C2-45F7-8B3F-82BFD91B764D}" dt="2026-10-31T14:00:51.310" v="22" actId="1076"/>
        <pc:sldMkLst>
          <pc:docMk/>
          <pc:sldMk cId="1229047658" sldId="288"/>
        </pc:sldMkLst>
        <pc:spChg chg="mod">
          <ac:chgData name="ananya das" userId="3eb983e4881ad8d8" providerId="LiveId" clId="{AB099F2F-30C2-45F7-8B3F-82BFD91B764D}" dt="2026-10-31T13:58:29.568" v="3" actId="20577"/>
          <ac:spMkLst>
            <pc:docMk/>
            <pc:sldMk cId="1229047658" sldId="288"/>
            <ac:spMk id="3" creationId="{4837D5EE-379B-FDC5-0854-8AC81D31FADF}"/>
          </ac:spMkLst>
        </pc:spChg>
        <pc:picChg chg="del">
          <ac:chgData name="ananya das" userId="3eb983e4881ad8d8" providerId="LiveId" clId="{AB099F2F-30C2-45F7-8B3F-82BFD91B764D}" dt="2026-10-31T13:58:23.609" v="1" actId="478"/>
          <ac:picMkLst>
            <pc:docMk/>
            <pc:sldMk cId="1229047658" sldId="288"/>
            <ac:picMk id="4" creationId="{A037CFD0-B7FF-D9BE-3433-88E5844EF332}"/>
          </ac:picMkLst>
        </pc:picChg>
        <pc:picChg chg="add mod">
          <ac:chgData name="ananya das" userId="3eb983e4881ad8d8" providerId="LiveId" clId="{AB099F2F-30C2-45F7-8B3F-82BFD91B764D}" dt="2026-10-31T13:58:41.562" v="7" actId="14100"/>
          <ac:picMkLst>
            <pc:docMk/>
            <pc:sldMk cId="1229047658" sldId="288"/>
            <ac:picMk id="5" creationId="{C2F834B4-2CE7-DE72-246B-A89DC34984F5}"/>
          </ac:picMkLst>
        </pc:picChg>
        <pc:picChg chg="add mod">
          <ac:chgData name="ananya das" userId="3eb983e4881ad8d8" providerId="LiveId" clId="{AB099F2F-30C2-45F7-8B3F-82BFD91B764D}" dt="2026-10-31T14:00:45.917" v="21" actId="1076"/>
          <ac:picMkLst>
            <pc:docMk/>
            <pc:sldMk cId="1229047658" sldId="288"/>
            <ac:picMk id="8" creationId="{DF06A862-C309-65BD-925E-2CB52FA05BE1}"/>
          </ac:picMkLst>
        </pc:picChg>
        <pc:picChg chg="add mod">
          <ac:chgData name="ananya das" userId="3eb983e4881ad8d8" providerId="LiveId" clId="{AB099F2F-30C2-45F7-8B3F-82BFD91B764D}" dt="2026-10-31T14:00:51.310" v="22" actId="1076"/>
          <ac:picMkLst>
            <pc:docMk/>
            <pc:sldMk cId="1229047658" sldId="288"/>
            <ac:picMk id="10" creationId="{5CCBB00B-D147-A4D1-A3DA-97DA84E4E80A}"/>
          </ac:picMkLst>
        </pc:picChg>
      </pc:sldChg>
      <pc:sldChg chg="addSp modSp mod">
        <pc:chgData name="ananya das" userId="3eb983e4881ad8d8" providerId="LiveId" clId="{AB099F2F-30C2-45F7-8B3F-82BFD91B764D}" dt="2026-10-31T14:03:29.125" v="25" actId="1076"/>
        <pc:sldMkLst>
          <pc:docMk/>
          <pc:sldMk cId="2506610743" sldId="289"/>
        </pc:sldMkLst>
        <pc:picChg chg="add mod">
          <ac:chgData name="ananya das" userId="3eb983e4881ad8d8" providerId="LiveId" clId="{AB099F2F-30C2-45F7-8B3F-82BFD91B764D}" dt="2026-10-31T14:03:29.125" v="25" actId="1076"/>
          <ac:picMkLst>
            <pc:docMk/>
            <pc:sldMk cId="2506610743" sldId="289"/>
            <ac:picMk id="3" creationId="{DF9913EA-E299-BAF7-5500-561FA3CA34C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finsaathi-ai-h6rrnqqbameargbappahgvk.streamlit.app/"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4844509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Ananya Das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ananyadas09092004@gmail.com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7002291448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Financial Literacy / FinTech (Financial Technology)</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102321" y="54661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err="1">
                <a:highlight>
                  <a:srgbClr val="FFFF00"/>
                </a:highlight>
              </a:rPr>
              <a:t>FinSaathi</a:t>
            </a:r>
            <a:r>
              <a:rPr lang="en-IN" sz="2400" dirty="0">
                <a:highlight>
                  <a:srgbClr val="FFFF00"/>
                </a:highlight>
              </a:rPr>
              <a:t> AI — An AI-Powered Financial Literacy Assistant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F888C181-1536-5526-1CAC-BBE03EFE8E14}"/>
              </a:ext>
            </a:extLst>
          </p:cNvPr>
          <p:cNvPicPr>
            <a:picLocks noChangeAspect="1"/>
          </p:cNvPicPr>
          <p:nvPr/>
        </p:nvPicPr>
        <p:blipFill>
          <a:blip r:embed="rId3"/>
          <a:stretch>
            <a:fillRect/>
          </a:stretch>
        </p:blipFill>
        <p:spPr>
          <a:xfrm>
            <a:off x="4076495" y="3550768"/>
            <a:ext cx="1021285" cy="12166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r>
              <a:rPr lang="en-IN" b="1" dirty="0"/>
              <a:t>Problem Statement: </a:t>
            </a:r>
            <a:r>
              <a:rPr lang="en-IN" b="1" dirty="0" err="1"/>
              <a:t>FinSaathi</a:t>
            </a:r>
            <a:r>
              <a:rPr lang="en-IN" b="1" dirty="0"/>
              <a:t> AI</a:t>
            </a:r>
            <a:endParaRPr lang="en-IN" dirty="0"/>
          </a:p>
          <a:p>
            <a:r>
              <a:rPr lang="en-IN" b="1" dirty="0"/>
              <a:t>The Challenge</a:t>
            </a:r>
            <a:endParaRPr lang="en-IN" dirty="0"/>
          </a:p>
          <a:p>
            <a:r>
              <a:rPr lang="en-IN" dirty="0"/>
              <a:t>Many people struggle to understand basic financial concepts such as budgeting, savings, interest calculations, digital payments and online financial fraud. Financial information can be scattered across multiple sources, making it difficult for beginners to find clear and understandable explanations.</a:t>
            </a:r>
          </a:p>
          <a:p>
            <a:r>
              <a:rPr lang="en-IN" b="1" dirty="0"/>
              <a:t>The Objective</a:t>
            </a:r>
            <a:endParaRPr lang="en-IN" dirty="0"/>
          </a:p>
          <a:p>
            <a:r>
              <a:rPr lang="en-IN" dirty="0"/>
              <a:t>To develop an AI-powered financial literacy assistant that helps users understand financial concepts through conversational question answering.</a:t>
            </a:r>
          </a:p>
          <a:p>
            <a:r>
              <a:rPr lang="en-IN" dirty="0"/>
              <a:t>The solution aims to:</a:t>
            </a:r>
          </a:p>
          <a:p>
            <a:pPr lvl="0"/>
            <a:r>
              <a:rPr lang="en-IN" dirty="0"/>
              <a:t>Explain financial concepts in simple language.</a:t>
            </a:r>
          </a:p>
          <a:p>
            <a:pPr lvl="0"/>
            <a:r>
              <a:rPr lang="en-IN" dirty="0"/>
              <a:t>Retrieve relevant information from a financial knowledge base.</a:t>
            </a:r>
          </a:p>
          <a:p>
            <a:pPr lvl="0"/>
            <a:r>
              <a:rPr lang="en-IN" dirty="0"/>
              <a:t>Generate context-aware responses using IBM Granite.</a:t>
            </a:r>
          </a:p>
          <a:p>
            <a:pPr lvl="0"/>
            <a:r>
              <a:rPr lang="en-IN" dirty="0"/>
              <a:t>Promote awareness of budgeting, saving and digital-payment safety.</a:t>
            </a:r>
          </a:p>
          <a:p>
            <a:pPr lvl="0"/>
            <a:r>
              <a:rPr lang="en-IN" dirty="0"/>
              <a:t>Make financial education accessible through a web-based interface.</a:t>
            </a:r>
          </a:p>
          <a:p>
            <a:r>
              <a:rPr lang="en-IN" b="1" dirty="0"/>
              <a:t>Existing Challenges</a:t>
            </a:r>
            <a:endParaRPr lang="en-IN" dirty="0"/>
          </a:p>
          <a:p>
            <a:pPr lvl="0"/>
            <a:r>
              <a:rPr lang="en-IN" dirty="0"/>
              <a:t>Financial information is spread across different sources.</a:t>
            </a:r>
          </a:p>
          <a:p>
            <a:pPr lvl="0"/>
            <a:r>
              <a:rPr lang="en-IN" dirty="0"/>
              <a:t>Beginners may find financial terminology difficult to understand.</a:t>
            </a:r>
          </a:p>
          <a:p>
            <a:pPr lvl="0"/>
            <a:r>
              <a:rPr lang="en-IN" dirty="0"/>
              <a:t>Generic AI responses may contain incomplete or inaccurate information.</a:t>
            </a:r>
          </a:p>
          <a:p>
            <a:pPr lvl="0"/>
            <a:r>
              <a:rPr lang="en-IN" dirty="0"/>
              <a:t>Users need a simple interface to ask questions naturally.</a:t>
            </a:r>
          </a:p>
          <a:p>
            <a:r>
              <a:rPr lang="en-IN" b="1" dirty="0"/>
              <a:t>Proposed Approach</a:t>
            </a:r>
            <a:endParaRPr lang="en-IN" dirty="0"/>
          </a:p>
          <a:p>
            <a:r>
              <a:rPr lang="en-IN" dirty="0" err="1"/>
              <a:t>FinSaathi</a:t>
            </a:r>
            <a:r>
              <a:rPr lang="en-IN" dirty="0"/>
              <a:t> AI combines knowledge retrieval and generative AI to provide accessible explanations supported by relevant information from its financial knowledge base.</a:t>
            </a:r>
          </a:p>
          <a:p>
            <a:r>
              <a:rPr lang="en-IN" b="1" dirty="0"/>
              <a:t>Target Users:</a:t>
            </a:r>
            <a:r>
              <a:rPr lang="en-IN" dirty="0"/>
              <a:t> Students, beginners in personal finance and individuals seeking basic financial education.</a:t>
            </a:r>
          </a:p>
          <a:p>
            <a:pPr lvl="0"/>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108543"/>
          </a:xfrm>
          <a:prstGeom prst="rect">
            <a:avLst/>
          </a:prstGeom>
          <a:noFill/>
        </p:spPr>
        <p:txBody>
          <a:bodyPr wrap="square" rtlCol="0">
            <a:spAutoFit/>
          </a:bodyPr>
          <a:lstStyle/>
          <a:p>
            <a:pPr fontAlgn="base"/>
            <a:endParaRPr lang="en-US" b="1" dirty="0"/>
          </a:p>
          <a:p>
            <a:r>
              <a:rPr lang="en-IN" b="1" dirty="0"/>
              <a:t>Proposed Solution: </a:t>
            </a:r>
            <a:r>
              <a:rPr lang="en-IN" b="1" dirty="0" err="1"/>
              <a:t>FinSaathi</a:t>
            </a:r>
            <a:r>
              <a:rPr lang="en-IN" b="1" dirty="0"/>
              <a:t> AI</a:t>
            </a:r>
            <a:endParaRPr lang="en-IN" dirty="0"/>
          </a:p>
          <a:p>
            <a:r>
              <a:rPr lang="en-IN" dirty="0" err="1"/>
              <a:t>FinSaathi</a:t>
            </a:r>
            <a:r>
              <a:rPr lang="en-IN" dirty="0"/>
              <a:t> AI is a web-based financial literacy assistant developed using Python and </a:t>
            </a:r>
            <a:r>
              <a:rPr lang="en-IN" dirty="0" err="1"/>
              <a:t>Streamlit</a:t>
            </a:r>
            <a:r>
              <a:rPr lang="en-IN" dirty="0"/>
              <a:t>, integrated with IBM watsonx.ai and IBM Granite.</a:t>
            </a:r>
          </a:p>
          <a:p>
            <a:r>
              <a:rPr lang="en-IN" dirty="0"/>
              <a:t>The application uses a Retrieval-Augmented Generation (RAG) approach to connect user questions with relevant information from a financial knowledge base before generating responses.</a:t>
            </a:r>
          </a:p>
          <a:p>
            <a:r>
              <a:rPr lang="en-IN" b="1" dirty="0"/>
              <a:t>Core Components</a:t>
            </a:r>
            <a:endParaRPr lang="en-IN" dirty="0"/>
          </a:p>
          <a:p>
            <a:pPr lvl="0"/>
            <a:r>
              <a:rPr lang="en-IN" b="1" dirty="0"/>
              <a:t>User Interface:</a:t>
            </a:r>
            <a:r>
              <a:rPr lang="en-IN" dirty="0"/>
              <a:t> Accepts questions through the </a:t>
            </a:r>
            <a:r>
              <a:rPr lang="en-IN" dirty="0" err="1"/>
              <a:t>Streamlit</a:t>
            </a:r>
            <a:r>
              <a:rPr lang="en-IN" dirty="0"/>
              <a:t> application.</a:t>
            </a:r>
          </a:p>
          <a:p>
            <a:pPr lvl="0"/>
            <a:r>
              <a:rPr lang="en-IN" b="1" dirty="0"/>
              <a:t>Knowledge Retrieval:</a:t>
            </a:r>
            <a:r>
              <a:rPr lang="en-IN" dirty="0"/>
              <a:t> Searches for relevant information from the available financial knowledge base.</a:t>
            </a:r>
          </a:p>
          <a:p>
            <a:pPr lvl="0"/>
            <a:r>
              <a:rPr lang="en-IN" b="1" dirty="0"/>
              <a:t>Context Preparation:</a:t>
            </a:r>
            <a:r>
              <a:rPr lang="en-IN" dirty="0"/>
              <a:t> Supplies retrieved information as context for answer generation.</a:t>
            </a:r>
          </a:p>
          <a:p>
            <a:pPr lvl="0"/>
            <a:r>
              <a:rPr lang="en-IN" b="1" dirty="0"/>
              <a:t>AI Response Generation:</a:t>
            </a:r>
            <a:r>
              <a:rPr lang="en-IN" dirty="0"/>
              <a:t> Uses IBM watsonx.ai and a configured IBM Granite model.</a:t>
            </a:r>
          </a:p>
          <a:p>
            <a:pPr lvl="0"/>
            <a:r>
              <a:rPr lang="en-IN" b="1" dirty="0"/>
              <a:t>Response Display:</a:t>
            </a:r>
            <a:r>
              <a:rPr lang="en-IN" dirty="0"/>
              <a:t> Presents the generated explanation to the user.</a:t>
            </a:r>
          </a:p>
          <a:p>
            <a:r>
              <a:rPr lang="en-IN" b="1" dirty="0"/>
              <a:t>Expected Outcome:</a:t>
            </a:r>
            <a:r>
              <a:rPr lang="en-IN" dirty="0"/>
              <a:t> A simple and accessible AI-powered tool for learning fundamental financial concepts.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r>
              <a:rPr lang="en-IN" sz="1800" b="1" dirty="0"/>
              <a:t>Technology Stack</a:t>
            </a:r>
            <a:endParaRPr lang="en-IN" sz="1800" dirty="0"/>
          </a:p>
          <a:p>
            <a:pPr lvl="0"/>
            <a:r>
              <a:rPr lang="en-IN" sz="1800" b="1" dirty="0"/>
              <a:t>Python:</a:t>
            </a:r>
            <a:r>
              <a:rPr lang="en-IN" sz="1800" dirty="0"/>
              <a:t> Core programming language.</a:t>
            </a:r>
          </a:p>
          <a:p>
            <a:pPr lvl="0"/>
            <a:r>
              <a:rPr lang="en-IN" sz="1800" b="1" dirty="0" err="1"/>
              <a:t>Streamlit</a:t>
            </a:r>
            <a:r>
              <a:rPr lang="en-IN" sz="1800" b="1" dirty="0"/>
              <a:t>:</a:t>
            </a:r>
            <a:r>
              <a:rPr lang="en-IN" sz="1800" dirty="0"/>
              <a:t> Interactive web application interface.</a:t>
            </a:r>
          </a:p>
          <a:p>
            <a:pPr lvl="0"/>
            <a:r>
              <a:rPr lang="en-IN" sz="1800" b="1" dirty="0"/>
              <a:t>IBM watsonx.ai:</a:t>
            </a:r>
            <a:r>
              <a:rPr lang="en-IN" sz="1800" dirty="0"/>
              <a:t> Access to foundation models through an AI service.</a:t>
            </a:r>
          </a:p>
          <a:p>
            <a:pPr lvl="0"/>
            <a:r>
              <a:rPr lang="en-IN" sz="1800" b="1" dirty="0"/>
              <a:t>IBM Granite:</a:t>
            </a:r>
            <a:r>
              <a:rPr lang="en-IN" sz="1800" dirty="0"/>
              <a:t> Generates natural-language answers.</a:t>
            </a:r>
          </a:p>
          <a:p>
            <a:pPr lvl="0"/>
            <a:r>
              <a:rPr lang="en-IN" sz="1800" b="1" dirty="0"/>
              <a:t>Retrieval-Augmented Generation (RAG):</a:t>
            </a:r>
            <a:r>
              <a:rPr lang="en-IN" sz="1800" dirty="0"/>
              <a:t> Retrieves relevant financial knowledge to support responses.</a:t>
            </a:r>
          </a:p>
          <a:p>
            <a:pPr lvl="0"/>
            <a:r>
              <a:rPr lang="en-IN" sz="1800" b="1" dirty="0" err="1"/>
              <a:t>PyPDF</a:t>
            </a:r>
            <a:r>
              <a:rPr lang="en-IN" sz="1800" b="1" dirty="0"/>
              <a:t>:</a:t>
            </a:r>
            <a:r>
              <a:rPr lang="en-IN" sz="1800" dirty="0"/>
              <a:t> Extracts text from PDF documents.</a:t>
            </a:r>
          </a:p>
          <a:p>
            <a:pPr lvl="0"/>
            <a:r>
              <a:rPr lang="en-IN" sz="1800" b="1" dirty="0"/>
              <a:t>Pandas:</a:t>
            </a:r>
            <a:r>
              <a:rPr lang="en-IN" sz="1800" dirty="0"/>
              <a:t> Data processing.</a:t>
            </a:r>
          </a:p>
          <a:p>
            <a:pPr lvl="0"/>
            <a:r>
              <a:rPr lang="en-IN" sz="1800" b="1" dirty="0"/>
              <a:t>Scikit-learn:</a:t>
            </a:r>
            <a:r>
              <a:rPr lang="en-IN" sz="1800" dirty="0"/>
              <a:t> Machine-learning utilities and similarity workflows, where applicable.</a:t>
            </a:r>
          </a:p>
          <a:p>
            <a:pPr lvl="0"/>
            <a:r>
              <a:rPr lang="en-IN" sz="1800" b="1" dirty="0"/>
              <a:t>python-</a:t>
            </a:r>
            <a:r>
              <a:rPr lang="en-IN" sz="1800" b="1" dirty="0" err="1"/>
              <a:t>dotenv</a:t>
            </a:r>
            <a:r>
              <a:rPr lang="en-IN" sz="1800" b="1" dirty="0"/>
              <a:t>:</a:t>
            </a:r>
            <a:r>
              <a:rPr lang="en-IN" sz="1800" dirty="0"/>
              <a:t> Manages local environment variables.</a:t>
            </a:r>
          </a:p>
          <a:p>
            <a:pPr lvl="0"/>
            <a:r>
              <a:rPr lang="en-IN" sz="1800" b="1" dirty="0" err="1"/>
              <a:t>Streamlit</a:t>
            </a:r>
            <a:r>
              <a:rPr lang="en-IN" sz="1800" b="1" dirty="0"/>
              <a:t> Community Cloud:</a:t>
            </a:r>
            <a:r>
              <a:rPr lang="en-IN" sz="1800" dirty="0"/>
              <a:t> Hosts the deployed application.</a:t>
            </a:r>
          </a:p>
          <a:p>
            <a:r>
              <a:rPr lang="en-IN" sz="1800" b="1" dirty="0"/>
              <a:t>Live Demo:</a:t>
            </a:r>
            <a:r>
              <a:rPr lang="en-IN" sz="1800" dirty="0"/>
              <a:t> </a:t>
            </a:r>
            <a:r>
              <a:rPr lang="en-IN" sz="1800" dirty="0">
                <a:hlinkClick r:id="rId3"/>
              </a:rPr>
              <a:t>https://finsaathi-ai-h6rrnqqbameargbappahgvk.streamlit.app/</a:t>
            </a:r>
            <a:endParaRPr lang="en-IN"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124754"/>
          </a:xfrm>
          <a:prstGeom prst="rect">
            <a:avLst/>
          </a:prstGeom>
          <a:noFill/>
        </p:spPr>
        <p:txBody>
          <a:bodyPr wrap="square" rtlCol="0">
            <a:spAutoFit/>
          </a:bodyPr>
          <a:lstStyle/>
          <a:p>
            <a:r>
              <a:rPr lang="en-IN" b="1" dirty="0"/>
              <a:t>1) Chat Input</a:t>
            </a:r>
            <a:r>
              <a:rPr lang="en-IN" dirty="0"/>
              <a:t> – Interface where users enter queries about UPI payments, online scams, digital banking, budgeting, interest rates, and personal finance.</a:t>
            </a:r>
          </a:p>
          <a:p>
            <a:r>
              <a:rPr lang="en-IN" b="1" dirty="0"/>
              <a:t>2) IBM watsonx.ai Agent</a:t>
            </a:r>
            <a:r>
              <a:rPr lang="en-IN" dirty="0"/>
              <a:t> – Processes user queries using an AI model to generate personalized financial literacy explanations and recommendations.</a:t>
            </a:r>
          </a:p>
          <a:p>
            <a:r>
              <a:rPr lang="en-IN" b="1" dirty="0"/>
              <a:t>3) Name of IBM Granite Model</a:t>
            </a:r>
            <a:r>
              <a:rPr lang="en-IN" dirty="0"/>
              <a:t> – IBM Granite 3.3 8B Instruct (</a:t>
            </a:r>
            <a:r>
              <a:rPr lang="en-IN" dirty="0" err="1"/>
              <a:t>ibm</a:t>
            </a:r>
            <a:r>
              <a:rPr lang="en-IN" dirty="0"/>
              <a:t>/granite-3-3-8b-instruct) — intended for instruction-following and financial question answering, subject to successful model configuration.</a:t>
            </a:r>
          </a:p>
          <a:p>
            <a:r>
              <a:rPr lang="en-IN" b="1" dirty="0"/>
              <a:t>4) Chat Output</a:t>
            </a:r>
            <a:r>
              <a:rPr lang="en-IN" dirty="0"/>
              <a:t> – Displays AI-generated responses, financial guidance, budgeting suggestions, and online scam-prevention advice.</a:t>
            </a:r>
          </a:p>
          <a:p>
            <a:r>
              <a:rPr lang="en-IN" b="1" dirty="0"/>
              <a:t>5) File Component</a:t>
            </a:r>
            <a:r>
              <a:rPr lang="en-IN" dirty="0"/>
              <a:t> – Loads and retrieves financial knowledge from RBI financial literacy documents (FAME PDF) to support answers with relevant information.</a:t>
            </a:r>
          </a:p>
          <a:p>
            <a:r>
              <a:rPr lang="en-IN" b="1" dirty="0"/>
              <a:t>6) RAG (Retrieval-Augmented Generation) Component</a:t>
            </a:r>
            <a:r>
              <a:rPr lang="en-IN" dirty="0"/>
              <a:t> – Uses document chunking, embeddings, FAISS vector search, and retrieval to provide relevant financial information as context for AI-generated responses.</a:t>
            </a:r>
          </a:p>
          <a:p>
            <a:r>
              <a:rPr lang="en-IN" b="1" dirty="0"/>
              <a:t>7) </a:t>
            </a:r>
            <a:r>
              <a:rPr lang="en-IN" b="1" dirty="0" err="1"/>
              <a:t>Streamlit</a:t>
            </a:r>
            <a:r>
              <a:rPr lang="en-IN" b="1" dirty="0"/>
              <a:t> UI Component</a:t>
            </a:r>
            <a:r>
              <a:rPr lang="en-IN" dirty="0"/>
              <a:t> – Provides the interactive web interface for users to ask questions and view financial literacy responses.</a:t>
            </a:r>
          </a:p>
          <a:p>
            <a:r>
              <a:rPr lang="en-IN" b="1" dirty="0"/>
              <a:t>8) Budget Planner Component</a:t>
            </a:r>
            <a:r>
              <a:rPr lang="en-IN" dirty="0"/>
              <a:t> – Helps users organise income, expenses, savings, and budget allocations.</a:t>
            </a:r>
          </a:p>
          <a:p>
            <a:r>
              <a:rPr lang="en-IN" b="1" dirty="0"/>
              <a:t>9) Multilingual Support Component</a:t>
            </a:r>
            <a:r>
              <a:rPr lang="en-IN" dirty="0"/>
              <a:t> – Supports financial literacy interactions in English, Hindi, and Bengali, where implemented.</a:t>
            </a:r>
          </a:p>
          <a:p>
            <a:r>
              <a:rPr lang="en-IN" b="1" dirty="0"/>
              <a:t>10) Safety and Disclaimer Component</a:t>
            </a:r>
            <a:r>
              <a:rPr lang="en-IN" dirty="0"/>
              <a:t> – Encourages safe financial practices, warns users about potential scams, and clarifies that AI-generated guidance is educational rather than professional financial advice.</a:t>
            </a:r>
          </a:p>
          <a:p>
            <a:pPr marL="342900" indent="-342900">
              <a:buFont typeface="Arial"/>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err="1"/>
              <a:t>FinSaathi</a:t>
            </a:r>
            <a:r>
              <a:rPr lang="en-IN" sz="2400" b="1" dirty="0"/>
              <a:t> AI — RAG Workflow</a:t>
            </a:r>
            <a:endParaRPr sz="2400" b="1" dirty="0">
              <a:sym typeface="Times New Roman"/>
            </a:endParaRPr>
          </a:p>
        </p:txBody>
      </p:sp>
      <p:pic>
        <p:nvPicPr>
          <p:cNvPr id="6" name="Picture 5">
            <a:extLst>
              <a:ext uri="{FF2B5EF4-FFF2-40B4-BE49-F238E27FC236}">
                <a16:creationId xmlns:a16="http://schemas.microsoft.com/office/drawing/2014/main" id="{06E1645F-B469-0400-11E0-3EFA4C52C89F}"/>
              </a:ext>
            </a:extLst>
          </p:cNvPr>
          <p:cNvPicPr>
            <a:picLocks noChangeAspect="1"/>
          </p:cNvPicPr>
          <p:nvPr/>
        </p:nvPicPr>
        <p:blipFill>
          <a:blip r:embed="rId3"/>
          <a:stretch>
            <a:fillRect/>
          </a:stretch>
        </p:blipFill>
        <p:spPr>
          <a:xfrm>
            <a:off x="474979" y="1038946"/>
            <a:ext cx="10503566" cy="494275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E4DF7991-A704-E5F7-F698-28F8D9F166EF}"/>
              </a:ext>
            </a:extLst>
          </p:cNvPr>
          <p:cNvPicPr>
            <a:picLocks noChangeAspect="1"/>
          </p:cNvPicPr>
          <p:nvPr/>
        </p:nvPicPr>
        <p:blipFill>
          <a:blip r:embed="rId3"/>
          <a:stretch>
            <a:fillRect/>
          </a:stretch>
        </p:blipFill>
        <p:spPr>
          <a:xfrm>
            <a:off x="537590" y="771758"/>
            <a:ext cx="10645140" cy="60862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2893100"/>
          </a:xfrm>
          <a:prstGeom prst="rect">
            <a:avLst/>
          </a:prstGeom>
          <a:noFill/>
        </p:spPr>
        <p:txBody>
          <a:bodyPr wrap="square" rtlCol="0">
            <a:spAutoFit/>
          </a:bodyPr>
          <a:lstStyle/>
          <a:p>
            <a:r>
              <a:rPr lang="en-IN" b="1" dirty="0"/>
              <a:t>Role of AI in </a:t>
            </a:r>
            <a:r>
              <a:rPr lang="en-IN" b="1" dirty="0" err="1"/>
              <a:t>FinSaathi</a:t>
            </a:r>
            <a:r>
              <a:rPr lang="en-IN" b="1" dirty="0"/>
              <a:t> AI</a:t>
            </a:r>
            <a:endParaRPr lang="en-IN" dirty="0"/>
          </a:p>
          <a:p>
            <a:r>
              <a:rPr lang="en-IN" dirty="0" err="1"/>
              <a:t>FinSaathi</a:t>
            </a:r>
            <a:r>
              <a:rPr lang="en-IN" dirty="0"/>
              <a:t> AI uses generative AI and Retrieval-Augmented Generation to answer questions about financial literacy.</a:t>
            </a:r>
          </a:p>
          <a:p>
            <a:pPr lvl="0"/>
            <a:r>
              <a:rPr lang="en-IN" b="1" dirty="0"/>
              <a:t>Context-Aware Responses:</a:t>
            </a:r>
            <a:r>
              <a:rPr lang="en-IN" dirty="0"/>
              <a:t> Retrieved financial information provides context for answer generation.</a:t>
            </a:r>
          </a:p>
          <a:p>
            <a:pPr lvl="0"/>
            <a:r>
              <a:rPr lang="en-IN" b="1" dirty="0"/>
              <a:t>Natural-Language Understanding:</a:t>
            </a:r>
            <a:r>
              <a:rPr lang="en-IN" dirty="0"/>
              <a:t> Users can ask questions in everyday language.</a:t>
            </a:r>
          </a:p>
          <a:p>
            <a:pPr lvl="0"/>
            <a:r>
              <a:rPr lang="en-IN" b="1" dirty="0"/>
              <a:t>Knowledge-Grounded Generation:</a:t>
            </a:r>
            <a:r>
              <a:rPr lang="en-IN" dirty="0"/>
              <a:t> RAG connects the question to relevant information in the knowledge base.</a:t>
            </a:r>
          </a:p>
          <a:p>
            <a:pPr lvl="0"/>
            <a:r>
              <a:rPr lang="en-IN" b="1" dirty="0"/>
              <a:t>Accessible Learning:</a:t>
            </a:r>
            <a:r>
              <a:rPr lang="en-IN" dirty="0"/>
              <a:t> Financial concepts can be explained conversationally.</a:t>
            </a:r>
          </a:p>
          <a:p>
            <a:pPr lvl="0"/>
            <a:r>
              <a:rPr lang="en-IN" b="1" dirty="0"/>
              <a:t>Potential Agentic Extension:</a:t>
            </a:r>
            <a:r>
              <a:rPr lang="en-IN" dirty="0"/>
              <a:t> Future versions could use specialized agents for budgeting education, fraud awareness and financial knowledge retrieval.</a:t>
            </a:r>
          </a:p>
          <a:p>
            <a:r>
              <a:rPr lang="en-IN" dirty="0"/>
              <a:t>The current implementation demonstrates a RAG-based AI assistant. Multi-agent orchestration should be described as implemented only after it has been built and tested.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t>3,110 tokens</a:t>
            </a:r>
            <a:r>
              <a:rPr lang="en-US" dirty="0"/>
              <a:t>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B3B9DB9C-E851-2DB4-3FB7-B7988D80B4B8}"/>
              </a:ext>
            </a:extLst>
          </p:cNvPr>
          <p:cNvPicPr>
            <a:picLocks noChangeAspect="1"/>
          </p:cNvPicPr>
          <p:nvPr/>
        </p:nvPicPr>
        <p:blipFill>
          <a:blip r:embed="rId3"/>
          <a:stretch>
            <a:fillRect/>
          </a:stretch>
        </p:blipFill>
        <p:spPr>
          <a:xfrm>
            <a:off x="5913928" y="2340234"/>
            <a:ext cx="6444496" cy="3034204"/>
          </a:xfrm>
          <a:prstGeom prst="rect">
            <a:avLst/>
          </a:prstGeom>
        </p:spPr>
      </p:pic>
      <p:pic>
        <p:nvPicPr>
          <p:cNvPr id="6" name="Picture 5">
            <a:extLst>
              <a:ext uri="{FF2B5EF4-FFF2-40B4-BE49-F238E27FC236}">
                <a16:creationId xmlns:a16="http://schemas.microsoft.com/office/drawing/2014/main" id="{EA9CD9C9-A045-C7A6-DB7E-6671A93A79CA}"/>
              </a:ext>
            </a:extLst>
          </p:cNvPr>
          <p:cNvPicPr>
            <a:picLocks noChangeAspect="1"/>
          </p:cNvPicPr>
          <p:nvPr/>
        </p:nvPicPr>
        <p:blipFill>
          <a:blip r:embed="rId4"/>
          <a:stretch>
            <a:fillRect/>
          </a:stretch>
        </p:blipFill>
        <p:spPr>
          <a:xfrm>
            <a:off x="143352" y="2340234"/>
            <a:ext cx="5403641" cy="2968447"/>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2800767"/>
          </a:xfrm>
          <a:prstGeom prst="rect">
            <a:avLst/>
          </a:prstGeom>
          <a:noFill/>
        </p:spPr>
        <p:txBody>
          <a:bodyPr wrap="square" rtlCol="0">
            <a:spAutoFit/>
          </a:bodyPr>
          <a:lstStyle/>
          <a:p>
            <a:pPr lvl="0"/>
            <a:r>
              <a:rPr lang="en-IN" sz="1800" b="1" dirty="0"/>
              <a:t>Financial Literacy Focus:</a:t>
            </a:r>
            <a:r>
              <a:rPr lang="en-IN" sz="1800" dirty="0"/>
              <a:t> Addresses beginner-friendly financial education.</a:t>
            </a:r>
          </a:p>
          <a:p>
            <a:pPr lvl="0"/>
            <a:r>
              <a:rPr lang="en-IN" sz="1800" b="1" dirty="0"/>
              <a:t>RAG-Based Question Answering:</a:t>
            </a:r>
            <a:r>
              <a:rPr lang="en-IN" sz="1800" dirty="0"/>
              <a:t> Connects user questions with a financial knowledge base.</a:t>
            </a:r>
          </a:p>
          <a:p>
            <a:pPr lvl="0"/>
            <a:r>
              <a:rPr lang="en-IN" sz="1800" b="1" dirty="0"/>
              <a:t>Generative AI Integration:</a:t>
            </a:r>
            <a:r>
              <a:rPr lang="en-IN" sz="1800" dirty="0"/>
              <a:t> Uses IBM Granite through IBM watsonx.ai.</a:t>
            </a:r>
          </a:p>
          <a:p>
            <a:pPr lvl="0"/>
            <a:r>
              <a:rPr lang="en-IN" sz="1800" b="1" dirty="0"/>
              <a:t>Conversational Learning:</a:t>
            </a:r>
            <a:r>
              <a:rPr lang="en-IN" sz="1800" dirty="0"/>
              <a:t> Allows users to ask questions naturally.</a:t>
            </a:r>
          </a:p>
          <a:p>
            <a:pPr lvl="0"/>
            <a:r>
              <a:rPr lang="en-IN" sz="1800" b="1" dirty="0"/>
              <a:t>Accessible Web Interface:</a:t>
            </a:r>
            <a:r>
              <a:rPr lang="en-IN" sz="1800" dirty="0"/>
              <a:t> Provides browser-based access through </a:t>
            </a:r>
            <a:r>
              <a:rPr lang="en-IN" sz="1800" dirty="0" err="1"/>
              <a:t>Streamlit</a:t>
            </a:r>
            <a:r>
              <a:rPr lang="en-IN" sz="1800" dirty="0"/>
              <a:t>.</a:t>
            </a:r>
          </a:p>
          <a:p>
            <a:pPr lvl="0"/>
            <a:r>
              <a:rPr lang="en-IN" sz="1800" b="1" dirty="0"/>
              <a:t>Cloud Deployment:</a:t>
            </a:r>
            <a:r>
              <a:rPr lang="en-IN" sz="1800" dirty="0"/>
              <a:t> Makes the application accessible through a live web link.</a:t>
            </a:r>
          </a:p>
          <a:p>
            <a:pPr lvl="0"/>
            <a:r>
              <a:rPr lang="en-IN" sz="1800" b="1" dirty="0"/>
              <a:t>Scope for Expansion:</a:t>
            </a:r>
            <a:r>
              <a:rPr lang="en-IN" sz="1800" dirty="0"/>
              <a:t> Can be extended with multilingual explanations, guided budgeting education and specialized AI agents.</a:t>
            </a:r>
          </a:p>
          <a:p>
            <a:r>
              <a:rPr lang="en-IN" sz="1800" dirty="0" err="1"/>
              <a:t>FinSaathi</a:t>
            </a:r>
            <a:r>
              <a:rPr lang="en-IN" sz="1800" dirty="0"/>
              <a:t> AI explores how RAG and generative AI can support accessible financial education.</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a:solidFill>
                  <a:srgbClr val="2B3541"/>
                </a:solidFill>
                <a:highlight>
                  <a:srgbClr val="FFFF00"/>
                </a:highlight>
                <a:latin typeface="Times New Roman"/>
                <a:ea typeface="Times New Roman"/>
                <a:cs typeface="Times New Roman"/>
                <a:sym typeface="Times New Roman"/>
              </a:rPr>
              <a:t>https://github.com/ananya348/finsaathi-ai?utm_source=chatgpt.com</a:t>
            </a:r>
            <a:endParaRPr lang="en-US" sz="1850" dirty="0">
              <a:solidFill>
                <a:srgbClr val="2B3541"/>
              </a:solidFill>
              <a:highlight>
                <a:srgbClr val="FFFF00"/>
              </a:highlight>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r>
              <a:rPr lang="en-IN" sz="2000" b="1" dirty="0"/>
              <a:t>Agentic AI Integration:</a:t>
            </a:r>
            <a:r>
              <a:rPr lang="en-IN" sz="2000" dirty="0"/>
              <a:t> Develop specialized agents for financial education, budgeting and fraud awareness.</a:t>
            </a:r>
          </a:p>
          <a:p>
            <a:pPr lvl="0"/>
            <a:r>
              <a:rPr lang="en-IN" sz="2000" b="1" dirty="0"/>
              <a:t>Multilingual Support:</a:t>
            </a:r>
            <a:r>
              <a:rPr lang="en-IN" sz="2000" dirty="0"/>
              <a:t> Provide financial explanations in Bengali, Hindi and other languages.</a:t>
            </a:r>
          </a:p>
          <a:p>
            <a:pPr lvl="0"/>
            <a:r>
              <a:rPr lang="en-IN" sz="2000" b="1" dirty="0"/>
              <a:t>Interactive Budgeting Tools:</a:t>
            </a:r>
            <a:r>
              <a:rPr lang="en-IN" sz="2000" dirty="0"/>
              <a:t> Add educational budget planners and savings calculators.</a:t>
            </a:r>
          </a:p>
          <a:p>
            <a:pPr lvl="0"/>
            <a:r>
              <a:rPr lang="en-IN" sz="2000" b="1" dirty="0"/>
              <a:t>Improved Knowledge Retrieval:</a:t>
            </a:r>
            <a:r>
              <a:rPr lang="en-IN" sz="2000" dirty="0"/>
              <a:t> Expand and validate the financial knowledge base.</a:t>
            </a:r>
          </a:p>
          <a:p>
            <a:pPr lvl="0"/>
            <a:r>
              <a:rPr lang="en-IN" sz="2000" b="1" dirty="0"/>
              <a:t>Evaluation and Reliability:</a:t>
            </a:r>
            <a:r>
              <a:rPr lang="en-IN" sz="2000" dirty="0"/>
              <a:t> Test answer relevance, factual accuracy and retrieval quality.</a:t>
            </a:r>
          </a:p>
          <a:p>
            <a:pPr lvl="0"/>
            <a:r>
              <a:rPr lang="en-IN" sz="2000" b="1" dirty="0"/>
              <a:t>Financial Safety Awareness:</a:t>
            </a:r>
            <a:r>
              <a:rPr lang="en-IN" sz="2000" dirty="0"/>
              <a:t> Include guidance on recognizing common digital-payment scams.</a:t>
            </a:r>
          </a:p>
          <a:p>
            <a:pPr lvl="0"/>
            <a:r>
              <a:rPr lang="en-IN" sz="2000" b="1" dirty="0"/>
              <a:t>Enhanced User Experience:</a:t>
            </a:r>
            <a:r>
              <a:rPr lang="en-IN" sz="2000" dirty="0"/>
              <a:t> Introduce guided learning paths and user feedback features.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5" name="Picture 4">
            <a:extLst>
              <a:ext uri="{FF2B5EF4-FFF2-40B4-BE49-F238E27FC236}">
                <a16:creationId xmlns:a16="http://schemas.microsoft.com/office/drawing/2014/main" id="{C2F834B4-2CE7-DE72-246B-A89DC34984F5}"/>
              </a:ext>
            </a:extLst>
          </p:cNvPr>
          <p:cNvPicPr>
            <a:picLocks noChangeAspect="1"/>
          </p:cNvPicPr>
          <p:nvPr/>
        </p:nvPicPr>
        <p:blipFill>
          <a:blip r:embed="rId2"/>
          <a:stretch>
            <a:fillRect/>
          </a:stretch>
        </p:blipFill>
        <p:spPr>
          <a:xfrm>
            <a:off x="552048" y="1367169"/>
            <a:ext cx="4103772" cy="3066590"/>
          </a:xfrm>
          <a:prstGeom prst="rect">
            <a:avLst/>
          </a:prstGeom>
        </p:spPr>
      </p:pic>
      <p:pic>
        <p:nvPicPr>
          <p:cNvPr id="8" name="Picture 7">
            <a:extLst>
              <a:ext uri="{FF2B5EF4-FFF2-40B4-BE49-F238E27FC236}">
                <a16:creationId xmlns:a16="http://schemas.microsoft.com/office/drawing/2014/main" id="{DF06A862-C309-65BD-925E-2CB52FA05BE1}"/>
              </a:ext>
            </a:extLst>
          </p:cNvPr>
          <p:cNvPicPr>
            <a:picLocks noChangeAspect="1"/>
          </p:cNvPicPr>
          <p:nvPr/>
        </p:nvPicPr>
        <p:blipFill>
          <a:blip r:embed="rId3"/>
          <a:stretch>
            <a:fillRect/>
          </a:stretch>
        </p:blipFill>
        <p:spPr>
          <a:xfrm>
            <a:off x="8023859" y="1213281"/>
            <a:ext cx="4038601" cy="2971232"/>
          </a:xfrm>
          <a:prstGeom prst="rect">
            <a:avLst/>
          </a:prstGeom>
        </p:spPr>
      </p:pic>
      <p:pic>
        <p:nvPicPr>
          <p:cNvPr id="10" name="Picture 9">
            <a:extLst>
              <a:ext uri="{FF2B5EF4-FFF2-40B4-BE49-F238E27FC236}">
                <a16:creationId xmlns:a16="http://schemas.microsoft.com/office/drawing/2014/main" id="{5CCBB00B-D147-A4D1-A3DA-97DA84E4E80A}"/>
              </a:ext>
            </a:extLst>
          </p:cNvPr>
          <p:cNvPicPr>
            <a:picLocks noChangeAspect="1"/>
          </p:cNvPicPr>
          <p:nvPr/>
        </p:nvPicPr>
        <p:blipFill>
          <a:blip r:embed="rId4"/>
          <a:stretch>
            <a:fillRect/>
          </a:stretch>
        </p:blipFill>
        <p:spPr>
          <a:xfrm>
            <a:off x="4458306" y="3709859"/>
            <a:ext cx="3763068" cy="281109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DF9913EA-E299-BAF7-5500-561FA3CA34C1}"/>
              </a:ext>
            </a:extLst>
          </p:cNvPr>
          <p:cNvPicPr>
            <a:picLocks noChangeAspect="1"/>
          </p:cNvPicPr>
          <p:nvPr/>
        </p:nvPicPr>
        <p:blipFill>
          <a:blip r:embed="rId3"/>
          <a:stretch>
            <a:fillRect/>
          </a:stretch>
        </p:blipFill>
        <p:spPr>
          <a:xfrm>
            <a:off x="2126954" y="1420862"/>
            <a:ext cx="8291484" cy="509423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1244</Words>
  <Application>Microsoft Office PowerPoint</Application>
  <PresentationFormat>Widescreen</PresentationFormat>
  <Paragraphs>130</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ananya das</cp:lastModifiedBy>
  <cp:revision>12</cp:revision>
  <dcterms:created xsi:type="dcterms:W3CDTF">2025-07-08T05:06:56Z</dcterms:created>
  <dcterms:modified xsi:type="dcterms:W3CDTF">2026-10-31T14:34:00Z</dcterms:modified>
</cp:coreProperties>
</file>